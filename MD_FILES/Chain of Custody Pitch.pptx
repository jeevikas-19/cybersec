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when an attacker gets root, the logs are the first thing they touch. We built logs that fight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pain. Logs are evidence, and evidence the attacker can edit is worth nothing. The attacker knows the layout, can edit the logs, and everyone checks too late. Log injection is on the list but parked; we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The hacker is inside with a real key and has not changed anything yet. Our layer 1 tries to stop the obvious moves and makes the attacker's path visible. It is a speed bump, not a guarantee: root can get around it, which is why layer 2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that layer 1 is best effort. The policy and the command gate raise the cost of the obvious moves. Anything root can do past them is caught by layer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design. Layer 2 does not try to stop root. It makes every change visible: the chain breaks at the edited entry, silence raises an alarm, and the witness keeps the copy root cannot reach. Be honest about the limit: an outage hides entries until the link returns, but the sequence gap tells you how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Forward-secure keys mean that even with root, an attacker cannot re-sign old entries. Sequence numbers let us count what was unverified during an outage. The witness copy is the one root cannot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emergency brake, used only once layer 2 has confirmed tampering on a box the attacker controls. The evidence never leaves the witness, and no single holder can unlock the box alone. Say the false-positive cost out loud: a manual unlock.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witness stores a commitment, not the secret, so a compromised witness still cannot unlock a box alone. The demo share file is for the demo only and is not part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box writes and ships. The witness is the copy root cannot reach. The views only read from the witness. The arrows back to the box are the challenge, the freeze and the request for a local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open problems. The network cut is the next attacker move we need to handle well. Log injection is parked but real. Finish with the one-liner: catch it, prove it, freeze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97939"/>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6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93899"/>
            <a:ext cx="10566400" cy="4051301"/>
          </a:xfrm>
          <a:prstGeom prst="rect">
            <a:avLst/>
          </a:prstGeom>
          <a:noFill/>
          <a:ln/>
        </p:spPr>
        <p:txBody>
          <a:bodyPr wrap="square" lIns="0" tIns="0" rIns="0" bIns="0" rtlCol="0" anchor="t"/>
          <a:lstStyle>
            <a:lvl1pPr algn="l" indent="0" marL="0">
              <a:lnSpc>
                <a:spcPct val="140000"/>
              </a:lnSpc>
              <a:buNone/>
              <a:defRPr lang="en-US" sz="1600" dirty="0">
                <a:solidFill>
                  <a:srgbClr val="16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97939"/>
            <a:ext cx="10566400" cy="391160"/>
          </a:xfrm>
          <a:prstGeom prst="rect">
            <a:avLst/>
          </a:prstGeom>
          <a:noFill/>
          <a:ln/>
        </p:spPr>
        <p:txBody>
          <a:bodyPr wrap="square" lIns="0" tIns="0" rIns="0" bIns="0" rtlCol="0" anchor="t"/>
          <a:lstStyle>
            <a:lvl1pPr algn="l" indent="0" marL="0">
              <a:lnSpc>
                <a:spcPct val="115000"/>
              </a:lnSpc>
              <a:buNone/>
              <a:defRPr lang="en-US" sz="2800" dirty="0">
                <a:solidFill>
                  <a:srgbClr val="16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93899"/>
            <a:ext cx="10566400" cy="4051301"/>
          </a:xfrm>
          <a:prstGeom prst="rect">
            <a:avLst/>
          </a:prstGeom>
          <a:noFill/>
          <a:ln/>
        </p:spPr>
        <p:txBody>
          <a:bodyPr wrap="square" lIns="0" tIns="0" rIns="0" bIns="0" rtlCol="0" anchor="t"/>
          <a:lstStyle>
            <a:lvl1pPr algn="l" indent="0" marL="0">
              <a:lnSpc>
                <a:spcPct val="140000"/>
              </a:lnSpc>
              <a:buNone/>
              <a:defRPr lang="en-US" sz="1600" dirty="0">
                <a:solidFill>
                  <a:srgbClr val="16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0"/>
        </a:solidFill>
      </p:bgPr>
    </p:bg>
    <p:spTree>
      <p:nvGrpSpPr>
        <p:cNvPr id="1" name=""/>
        <p:cNvGrpSpPr/>
        <p:nvPr/>
      </p:nvGrpSpPr>
      <p:grpSpPr>
        <a:xfrm>
          <a:off x="0" y="0"/>
          <a:ext cx="0" cy="0"/>
          <a:chOff x="0" y="0"/>
          <a:chExt cx="0" cy="0"/>
        </a:xfrm>
      </p:grpSpPr>
      <p:sp>
        <p:nvSpPr>
          <p:cNvPr id="2" name="Text 0"/>
          <p:cNvSpPr/>
          <p:nvPr/>
        </p:nvSpPr>
        <p:spPr>
          <a:xfrm>
            <a:off x="812800" y="224726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2913D"/>
                </a:solidFill>
                <a:latin typeface="JetBrains Mono" pitchFamily="49" charset="0"/>
                <a:ea typeface="JetBrains Mono" pitchFamily="49" charset="-122"/>
                <a:cs typeface="JetBrains Mono" pitchFamily="49" charset="-120"/>
              </a:rPr>
              <a:t>HACKURITY 2026 · PS-6</a:t>
            </a:r>
            <a:endParaRPr lang="en-US" sz="1400" dirty="0"/>
          </a:p>
        </p:txBody>
      </p:sp>
      <p:sp>
        <p:nvSpPr>
          <p:cNvPr id="3" name="Text 1"/>
          <p:cNvSpPr/>
          <p:nvPr>
            <p:ph type="title"/>
          </p:nvPr>
        </p:nvSpPr>
        <p:spPr>
          <a:xfrm>
            <a:off x="812800" y="2750185"/>
            <a:ext cx="10883392" cy="905510"/>
          </a:xfrm>
          <a:prstGeom prst="rect">
            <a:avLst/>
          </a:prstGeom>
          <a:noFill/>
          <a:ln/>
        </p:spPr>
        <p:txBody>
          <a:bodyPr wrap="square" lIns="0" tIns="0" rIns="0" bIns="0" rtlCol="0" anchor="t">
            <a:normAutofit/>
          </a:bodyPr>
          <a:lstStyle/>
          <a:p>
            <a:pPr algn="l" indent="0" marL="0">
              <a:lnSpc>
                <a:spcPts val="6930"/>
              </a:lnSpc>
              <a:buNone/>
            </a:pPr>
            <a:r>
              <a:rPr lang="en-US" sz="6600" b="1" i="0" dirty="0">
                <a:solidFill>
                  <a:srgbClr val="EEF1EC"/>
                </a:solidFill>
                <a:latin typeface="IBM Plex Sans" pitchFamily="34" charset="0"/>
                <a:ea typeface="IBM Plex Sans" pitchFamily="34" charset="-122"/>
                <a:cs typeface="IBM Plex Sans" pitchFamily="34" charset="-120"/>
              </a:rPr>
              <a:t>Chain of Custody</a:t>
            </a:r>
            <a:endParaRPr lang="en-US" sz="6600" dirty="0"/>
          </a:p>
        </p:txBody>
      </p:sp>
      <p:sp>
        <p:nvSpPr>
          <p:cNvPr id="4" name="Text 2"/>
          <p:cNvSpPr/>
          <p:nvPr/>
        </p:nvSpPr>
        <p:spPr>
          <a:xfrm>
            <a:off x="812800" y="3884295"/>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4CC"/>
                </a:solidFill>
                <a:latin typeface="IBM Plex Sans" pitchFamily="34" charset="0"/>
                <a:ea typeface="IBM Plex Sans" pitchFamily="34" charset="-122"/>
                <a:cs typeface="IBM Plex Sans" pitchFamily="34" charset="-120"/>
              </a:rPr>
              <a:t>Logs that notice tampering as it starts, prove what changed, and lock the scene.</a:t>
            </a:r>
            <a:endParaRPr lang="en-US" sz="2200" dirty="0"/>
          </a:p>
        </p:txBody>
      </p:sp>
      <p:sp>
        <p:nvSpPr>
          <p:cNvPr id="5" name="Text 3"/>
          <p:cNvSpPr/>
          <p:nvPr/>
        </p:nvSpPr>
        <p:spPr>
          <a:xfrm>
            <a:off x="812800" y="5999480"/>
            <a:ext cx="784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97A3"/>
                </a:solidFill>
                <a:latin typeface="IBM Plex Sans" pitchFamily="34" charset="0"/>
                <a:ea typeface="IBM Plex Sans" pitchFamily="34" charset="-122"/>
                <a:cs typeface="IBM Plex Sans" pitchFamily="34" charset="-120"/>
              </a:rPr>
              <a:t>FIREWALL CREW, TEAM MEMBERS: JEEVIKA, JERUSH, JAGANATH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621A"/>
                </a:solidFill>
                <a:latin typeface="JetBrains Mono" pitchFamily="49" charset="0"/>
                <a:ea typeface="JetBrains Mono" pitchFamily="49" charset="-122"/>
                <a:cs typeface="JetBrains Mono" pitchFamily="49" charset="-120"/>
              </a:rPr>
              <a:t>THE GAPS</a:t>
            </a:r>
            <a:endParaRPr lang="en-US" sz="1300" dirty="0"/>
          </a:p>
        </p:txBody>
      </p:sp>
      <p:sp>
        <p:nvSpPr>
          <p:cNvPr id="3" name="Text 1"/>
          <p:cNvSpPr/>
          <p:nvPr>
            <p:ph type="title"/>
          </p:nvPr>
        </p:nvSpPr>
        <p:spPr>
          <a:xfrm>
            <a:off x="812800" y="139954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Once an attacker has root, the logs stop telling the truth.</a:t>
            </a:r>
            <a:endParaRPr lang="en-US" sz="3200" dirty="0"/>
          </a:p>
        </p:txBody>
      </p:sp>
      <p:sp>
        <p:nvSpPr>
          <p:cNvPr id="4" name="Shape 2"/>
          <p:cNvSpPr/>
          <p:nvPr/>
        </p:nvSpPr>
        <p:spPr>
          <a:xfrm>
            <a:off x="815975" y="2652395"/>
            <a:ext cx="2501900" cy="2247265"/>
          </a:xfrm>
          <a:prstGeom prst="roundRect">
            <a:avLst>
              <a:gd name="adj" fmla="val 4380"/>
            </a:avLst>
          </a:prstGeom>
          <a:solidFill>
            <a:srgbClr val="FFFFFF"/>
          </a:solidFill>
          <a:ln w="6350">
            <a:solidFill>
              <a:srgbClr val="DDE1DC"/>
            </a:solidFill>
            <a:prstDash val="solid"/>
          </a:ln>
        </p:spPr>
      </p:sp>
      <p:sp>
        <p:nvSpPr>
          <p:cNvPr id="5" name="Text 3"/>
          <p:cNvSpPr/>
          <p:nvPr/>
        </p:nvSpPr>
        <p:spPr>
          <a:xfrm>
            <a:off x="1046480" y="2882900"/>
            <a:ext cx="2102117"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Predictable for the hacker</a:t>
            </a:r>
            <a:endParaRPr lang="en-US" sz="1600" dirty="0"/>
          </a:p>
        </p:txBody>
      </p:sp>
      <p:sp>
        <p:nvSpPr>
          <p:cNvPr id="6" name="Text 4"/>
          <p:cNvSpPr/>
          <p:nvPr/>
        </p:nvSpPr>
        <p:spPr>
          <a:xfrm>
            <a:off x="1046480" y="3472180"/>
            <a:ext cx="2102117" cy="122237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663"/>
                </a:solidFill>
                <a:latin typeface="IBM Plex Sans" pitchFamily="34" charset="0"/>
                <a:ea typeface="IBM Plex Sans" pitchFamily="34" charset="-122"/>
                <a:cs typeface="IBM Plex Sans" pitchFamily="34" charset="-120"/>
              </a:rPr>
              <a:t>Attackers know where logs live and how they are written, so they can plan the cleanup before they start.</a:t>
            </a:r>
            <a:endParaRPr lang="en-US" sz="1300" dirty="0"/>
          </a:p>
        </p:txBody>
      </p:sp>
      <p:sp>
        <p:nvSpPr>
          <p:cNvPr id="7" name="Shape 5"/>
          <p:cNvSpPr/>
          <p:nvPr/>
        </p:nvSpPr>
        <p:spPr>
          <a:xfrm>
            <a:off x="3502025" y="2652395"/>
            <a:ext cx="2501900" cy="2247265"/>
          </a:xfrm>
          <a:prstGeom prst="roundRect">
            <a:avLst>
              <a:gd name="adj" fmla="val 4380"/>
            </a:avLst>
          </a:prstGeom>
          <a:solidFill>
            <a:srgbClr val="FFFFFF"/>
          </a:solidFill>
          <a:ln w="6350">
            <a:solidFill>
              <a:srgbClr val="DDE1DC"/>
            </a:solidFill>
            <a:prstDash val="solid"/>
          </a:ln>
        </p:spPr>
      </p:sp>
      <p:sp>
        <p:nvSpPr>
          <p:cNvPr id="8" name="Text 6"/>
          <p:cNvSpPr/>
          <p:nvPr/>
        </p:nvSpPr>
        <p:spPr>
          <a:xfrm>
            <a:off x="3732530" y="2882900"/>
            <a:ext cx="21021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Tampering</a:t>
            </a:r>
            <a:endParaRPr lang="en-US" sz="1600" dirty="0"/>
          </a:p>
        </p:txBody>
      </p:sp>
      <p:sp>
        <p:nvSpPr>
          <p:cNvPr id="9" name="Text 7"/>
          <p:cNvSpPr/>
          <p:nvPr/>
        </p:nvSpPr>
        <p:spPr>
          <a:xfrm>
            <a:off x="3732530" y="3228340"/>
            <a:ext cx="2102117"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663"/>
                </a:solidFill>
                <a:latin typeface="IBM Plex Sans" pitchFamily="34" charset="0"/>
                <a:ea typeface="IBM Plex Sans" pitchFamily="34" charset="-122"/>
                <a:cs typeface="IBM Plex Sans" pitchFamily="34" charset="-120"/>
              </a:rPr>
              <a:t>Root can delete lines, edit amounts, insert fake entries and truncate files, and hide that it happened.</a:t>
            </a:r>
            <a:endParaRPr lang="en-US" sz="1300" dirty="0"/>
          </a:p>
        </p:txBody>
      </p:sp>
      <p:sp>
        <p:nvSpPr>
          <p:cNvPr id="10" name="Shape 8"/>
          <p:cNvSpPr/>
          <p:nvPr/>
        </p:nvSpPr>
        <p:spPr>
          <a:xfrm>
            <a:off x="6188075" y="2652395"/>
            <a:ext cx="2501900" cy="2247265"/>
          </a:xfrm>
          <a:prstGeom prst="roundRect">
            <a:avLst>
              <a:gd name="adj" fmla="val 4380"/>
            </a:avLst>
          </a:prstGeom>
          <a:solidFill>
            <a:srgbClr val="FFFFFF"/>
          </a:solidFill>
          <a:ln w="6350">
            <a:solidFill>
              <a:srgbClr val="DDE1DC"/>
            </a:solidFill>
            <a:prstDash val="solid"/>
          </a:ln>
        </p:spPr>
      </p:sp>
      <p:sp>
        <p:nvSpPr>
          <p:cNvPr id="11" name="Text 9"/>
          <p:cNvSpPr/>
          <p:nvPr/>
        </p:nvSpPr>
        <p:spPr>
          <a:xfrm>
            <a:off x="6418580" y="2882900"/>
            <a:ext cx="2102117"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Log injection (on hold)</a:t>
            </a:r>
            <a:endParaRPr lang="en-US" sz="1600" dirty="0"/>
          </a:p>
        </p:txBody>
      </p:sp>
      <p:sp>
        <p:nvSpPr>
          <p:cNvPr id="12" name="Text 10"/>
          <p:cNvSpPr/>
          <p:nvPr/>
        </p:nvSpPr>
        <p:spPr>
          <a:xfrm>
            <a:off x="6418580" y="3472180"/>
            <a:ext cx="2102117"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663"/>
                </a:solidFill>
                <a:latin typeface="IBM Plex Sans" pitchFamily="34" charset="0"/>
                <a:ea typeface="IBM Plex Sans" pitchFamily="34" charset="-122"/>
                <a:cs typeface="IBM Plex Sans" pitchFamily="34" charset="-120"/>
              </a:rPr>
              <a:t>Crafted lines can break log structure or mislead the tools that summarise logs. Parked for now.</a:t>
            </a:r>
            <a:endParaRPr lang="en-US" sz="1300" dirty="0"/>
          </a:p>
        </p:txBody>
      </p:sp>
      <p:sp>
        <p:nvSpPr>
          <p:cNvPr id="13" name="Shape 11"/>
          <p:cNvSpPr/>
          <p:nvPr/>
        </p:nvSpPr>
        <p:spPr>
          <a:xfrm>
            <a:off x="8874125" y="2652395"/>
            <a:ext cx="2501900" cy="2247265"/>
          </a:xfrm>
          <a:prstGeom prst="roundRect">
            <a:avLst>
              <a:gd name="adj" fmla="val 4380"/>
            </a:avLst>
          </a:prstGeom>
          <a:solidFill>
            <a:srgbClr val="FFFFFF"/>
          </a:solidFill>
          <a:ln w="6350">
            <a:solidFill>
              <a:srgbClr val="DDE1DC"/>
            </a:solidFill>
            <a:prstDash val="solid"/>
          </a:ln>
        </p:spPr>
      </p:sp>
      <p:sp>
        <p:nvSpPr>
          <p:cNvPr id="14" name="Text 12"/>
          <p:cNvSpPr/>
          <p:nvPr/>
        </p:nvSpPr>
        <p:spPr>
          <a:xfrm>
            <a:off x="9104630" y="2882900"/>
            <a:ext cx="2102117"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Detection comes too late</a:t>
            </a:r>
            <a:endParaRPr lang="en-US" sz="1600" dirty="0"/>
          </a:p>
        </p:txBody>
      </p:sp>
      <p:sp>
        <p:nvSpPr>
          <p:cNvPr id="15" name="Text 13"/>
          <p:cNvSpPr/>
          <p:nvPr/>
        </p:nvSpPr>
        <p:spPr>
          <a:xfrm>
            <a:off x="9104630" y="3472180"/>
            <a:ext cx="2102117"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663"/>
                </a:solidFill>
                <a:latin typeface="IBM Plex Sans" pitchFamily="34" charset="0"/>
                <a:ea typeface="IBM Plex Sans" pitchFamily="34" charset="-122"/>
                <a:cs typeface="IBM Plex Sans" pitchFamily="34" charset="-120"/>
              </a:rPr>
              <a:t>Most integrity checks run after the fact, when the evidence is gone and the attacker has left.</a:t>
            </a:r>
            <a:endParaRPr lang="en-US" sz="1300" dirty="0"/>
          </a:p>
        </p:txBody>
      </p:sp>
      <p:sp>
        <p:nvSpPr>
          <p:cNvPr id="16" name="Text 14"/>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1"/>
                </a:solidFill>
                <a:latin typeface="IBM Plex Sans" pitchFamily="34" charset="0"/>
                <a:ea typeface="IBM Plex Sans" pitchFamily="34" charset="-122"/>
                <a:cs typeface="IBM Plex Sans" pitchFamily="34" charset="-120"/>
              </a:rPr>
              <a:t>Chain of Custody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F6FD0"/>
                </a:solidFill>
                <a:latin typeface="JetBrains Mono" pitchFamily="49" charset="0"/>
                <a:ea typeface="JetBrains Mono" pitchFamily="49" charset="-122"/>
                <a:cs typeface="JetBrains Mono" pitchFamily="49" charset="-120"/>
              </a:rPr>
              <a:t>LAYER 1 · BEFORE</a:t>
            </a:r>
            <a:endParaRPr lang="en-US" sz="1300" dirty="0"/>
          </a:p>
        </p:txBody>
      </p:sp>
      <p:sp>
        <p:nvSpPr>
          <p:cNvPr id="3" name="Text 1"/>
          <p:cNvSpPr/>
          <p:nvPr>
            <p:ph type="title"/>
          </p:nvPr>
        </p:nvSpPr>
        <p:spPr>
          <a:xfrm>
            <a:off x="812800" y="124714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6202B"/>
                </a:solidFill>
                <a:latin typeface="IBM Plex Sans" pitchFamily="34" charset="0"/>
                <a:ea typeface="IBM Plex Sans" pitchFamily="34" charset="-122"/>
                <a:cs typeface="IBM Plex Sans" pitchFamily="34" charset="-120"/>
              </a:rPr>
              <a:t>The hacker gets in. Nothing is changed yet.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1660"/>
          <a:ext cx="10556240" cy="3103880"/>
        </p:xfrm>
        <a:graphic>
          <a:graphicData uri="http://schemas.openxmlformats.org/drawingml/2006/table">
            <a:tbl>
              <a:tblPr/>
              <a:tblGrid>
                <a:gridCol w="4855870"/>
                <a:gridCol w="5700370"/>
              </a:tblGrid>
              <a:tr h="487045">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What the hacker does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What we do</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487045">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Logs in with the sysadmin key</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Sensors record the new session on the box. Logs are still clean.</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Runs ordinary commands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The command gate checks each one against our custom command set and lets it through.</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Runs a log tool to edit or delete a file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The gate refuses the command and records the attempt. A visible speed bump.</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Writes to a log file directly</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AppArmor or SELinux denies the write. Sensors watch the log inode and size.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bl>
          </a:graphicData>
        </a:graphic>
      </p:graphicFrame>
      <p:sp>
        <p:nvSpPr>
          <p:cNvPr id="5" name="Text 2"/>
          <p:cNvSpPr/>
          <p:nvPr/>
        </p:nvSpPr>
        <p:spPr>
          <a:xfrm>
            <a:off x="812800" y="5158741"/>
            <a:ext cx="10883392"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C2621A"/>
                </a:solidFill>
                <a:latin typeface="IBM Plex Sans" pitchFamily="34" charset="0"/>
                <a:ea typeface="IBM Plex Sans" pitchFamily="34" charset="-122"/>
                <a:cs typeface="IBM Plex Sans" pitchFamily="34" charset="-120"/>
              </a:rPr>
              <a:t>Limit: root can bypass this. Layer 2 catches what gets past it.</a:t>
            </a:r>
            <a:endParaRPr lang="en-US" sz="1300" dirty="0"/>
          </a:p>
        </p:txBody>
      </p:sp>
      <p:sp>
        <p:nvSpPr>
          <p:cNvPr id="6" name="Text 3"/>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1"/>
                </a:solidFill>
                <a:latin typeface="IBM Plex Sans" pitchFamily="34" charset="0"/>
                <a:ea typeface="IBM Plex Sans" pitchFamily="34" charset="-122"/>
                <a:cs typeface="IBM Plex Sans" pitchFamily="34" charset="-120"/>
              </a:rPr>
              <a:t>Chain of Custody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F6FD0"/>
                </a:solidFill>
                <a:latin typeface="JetBrains Mono" pitchFamily="49" charset="0"/>
                <a:ea typeface="JetBrains Mono" pitchFamily="49" charset="-122"/>
                <a:cs typeface="JetBrains Mono" pitchFamily="49" charset="-120"/>
              </a:rPr>
              <a:t>LAYER 1 · HOW WE BUILD IT</a:t>
            </a:r>
            <a:endParaRPr lang="en-US" sz="1300" dirty="0"/>
          </a:p>
        </p:txBody>
      </p:sp>
      <p:sp>
        <p:nvSpPr>
          <p:cNvPr id="3" name="Text 1"/>
          <p:cNvSpPr/>
          <p:nvPr>
            <p:ph type="title"/>
          </p:nvPr>
        </p:nvSpPr>
        <p:spPr>
          <a:xfrm>
            <a:off x="812800" y="129794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6202B"/>
                </a:solidFill>
                <a:latin typeface="IBM Plex Sans" pitchFamily="34" charset="0"/>
                <a:ea typeface="IBM Plex Sans" pitchFamily="34" charset="-122"/>
                <a:cs typeface="IBM Plex Sans" pitchFamily="34" charset="-120"/>
              </a:rPr>
              <a:t>Layer 1 technique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53260"/>
          <a:ext cx="10556240" cy="2880995"/>
        </p:xfrm>
        <a:graphic>
          <a:graphicData uri="http://schemas.openxmlformats.org/drawingml/2006/table">
            <a:tbl>
              <a:tblPr/>
              <a:tblGrid>
                <a:gridCol w="2744622"/>
                <a:gridCol w="7811618"/>
              </a:tblGrid>
              <a:tr h="487045">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Component</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Stack and technique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487045">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Process and sensors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Agent watches its own process, log inode and size, interface state, and whether audit is running</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File control</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AppArmor or SELinux policy on the log files, so only the agent's user can write them. Needs a Linux kernel with LSM support.</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Command gate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Wrapper that checks each command against our custom command set. Blocked commands are refused and logged.</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7045">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Runtime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Python agent in a Docker container, one codebase with per-platform profiles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1"/>
                </a:solidFill>
                <a:latin typeface="IBM Plex Sans" pitchFamily="34" charset="0"/>
                <a:ea typeface="IBM Plex Sans" pitchFamily="34" charset="-122"/>
                <a:cs typeface="IBM Plex Sans" pitchFamily="34" charset="-120"/>
              </a:rPr>
              <a:t>Chain of Custody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2913D"/>
                </a:solidFill>
                <a:latin typeface="JetBrains Mono" pitchFamily="49" charset="0"/>
                <a:ea typeface="JetBrains Mono" pitchFamily="49" charset="-122"/>
                <a:cs typeface="JetBrains Mono" pitchFamily="49" charset="-120"/>
              </a:rPr>
              <a:t>LAYER 2 · WHILE</a:t>
            </a:r>
            <a:endParaRPr lang="en-US" sz="1300" dirty="0"/>
          </a:p>
        </p:txBody>
      </p:sp>
      <p:sp>
        <p:nvSpPr>
          <p:cNvPr id="3" name="Text 1"/>
          <p:cNvSpPr/>
          <p:nvPr>
            <p:ph type="title"/>
          </p:nvPr>
        </p:nvSpPr>
        <p:spPr>
          <a:xfrm>
            <a:off x="812800" y="12471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EF1EC"/>
                </a:solidFill>
                <a:latin typeface="IBM Plex Sans" pitchFamily="34" charset="0"/>
                <a:ea typeface="IBM Plex Sans" pitchFamily="34" charset="-122"/>
                <a:cs typeface="IBM Plex Sans" pitchFamily="34" charset="-120"/>
              </a:rPr>
              <a:t>The hacker edits a line and cuts the link. We still prove it.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1660"/>
          <a:ext cx="10556240" cy="3326765"/>
        </p:xfrm>
        <a:graphic>
          <a:graphicData uri="http://schemas.openxmlformats.org/drawingml/2006/table">
            <a:tbl>
              <a:tblPr/>
              <a:tblGrid>
                <a:gridCol w="4855870"/>
                <a:gridCol w="5700370"/>
              </a:tblGrid>
              <a:tr h="487045">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What the hacker does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2484F"/>
                      </a:solidFill>
                      <a:prstDash val="solid"/>
                      <a:round/>
                      <a:headEnd type="none" w="med" len="med"/>
                      <a:tailEnd type="none" w="med" len="med"/>
                    </a:lnL>
                    <a:lnR w="12700" cap="flat" cmpd="sng" algn="ctr">
                      <a:solidFill>
                        <a:srgbClr val="58626D"/>
                      </a:solidFill>
                      <a:prstDash val="solid"/>
                      <a:round/>
                      <a:headEnd type="none" w="med" len="med"/>
                      <a:tailEnd type="none" w="med" len="med"/>
                    </a:lnR>
                    <a:lnT w="12700" cap="flat" cmpd="sng" algn="ctr">
                      <a:solidFill>
                        <a:srgbClr val="42484F"/>
                      </a:solidFill>
                      <a:prstDash val="solid"/>
                      <a:round/>
                      <a:headEnd type="none" w="med" len="med"/>
                      <a:tailEnd type="none" w="med" len="med"/>
                    </a:lnT>
                    <a:lnB w="12700" cap="flat" cmpd="sng" algn="ctr">
                      <a:solidFill>
                        <a:srgbClr val="58626D"/>
                      </a:solidFill>
                      <a:prstDash val="solid"/>
                      <a:round/>
                      <a:headEnd type="none" w="med" len="med"/>
                      <a:tailEnd type="none" w="med" len="med"/>
                    </a:lnB>
                    <a:solidFill>
                      <a:srgbClr val="2A3846"/>
                    </a:solidFill>
                  </a:tcPr>
                </a:tc>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What we do</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58626D"/>
                      </a:solidFill>
                      <a:prstDash val="solid"/>
                      <a:round/>
                      <a:headEnd type="none" w="med" len="med"/>
                      <a:tailEnd type="none" w="med" len="med"/>
                    </a:lnL>
                    <a:lnR w="12700" cap="flat" cmpd="sng" algn="ctr">
                      <a:solidFill>
                        <a:srgbClr val="58626D"/>
                      </a:solidFill>
                      <a:prstDash val="solid"/>
                      <a:round/>
                      <a:headEnd type="none" w="med" len="med"/>
                      <a:tailEnd type="none" w="med" len="med"/>
                    </a:lnR>
                    <a:lnT w="12700" cap="flat" cmpd="sng" algn="ctr">
                      <a:solidFill>
                        <a:srgbClr val="42484F"/>
                      </a:solidFill>
                      <a:prstDash val="solid"/>
                      <a:round/>
                      <a:headEnd type="none" w="med" len="med"/>
                      <a:tailEnd type="none" w="med" len="med"/>
                    </a:lnT>
                    <a:lnB w="12700" cap="flat" cmpd="sng" algn="ctr">
                      <a:solidFill>
                        <a:srgbClr val="58626D"/>
                      </a:solidFill>
                      <a:prstDash val="solid"/>
                      <a:round/>
                      <a:headEnd type="none" w="med" len="med"/>
                      <a:tailEnd type="none" w="med" len="med"/>
                    </a:lnB>
                    <a:solidFill>
                      <a:srgbClr val="2A3846"/>
                    </a:solidFill>
                  </a:tcPr>
                </a:tc>
              </a:tr>
              <a:tr h="709930">
                <a:tc>
                  <a:txBody>
                    <a:bodyPr/>
                    <a:lstStyle/>
                    <a:p>
                      <a:pPr indent="0" marL="0">
                        <a:lnSpc>
                          <a:spcPts val="1820"/>
                        </a:lnSpc>
                        <a:buNone/>
                      </a:pPr>
                      <a:r>
                        <a:rPr lang="en-US" sz="1300" dirty="0">
                          <a:solidFill>
                            <a:srgbClr val="EEF1EC"/>
                          </a:solidFill>
                          <a:latin typeface="IBM Plex Sans" pitchFamily="34" charset="0"/>
                          <a:ea typeface="IBM Plex Sans" pitchFamily="34" charset="-122"/>
                          <a:cs typeface="IBM Plex Sans" pitchFamily="34" charset="-120"/>
                        </a:rPr>
                        <a:t>Gets root and edits an entry</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2484F"/>
                      </a:solidFill>
                      <a:prstDash val="solid"/>
                      <a:round/>
                      <a:headEnd type="none" w="med" len="med"/>
                      <a:tailEnd type="none" w="med" len="med"/>
                    </a:lnL>
                    <a:lnR w="12700" cap="flat" cmpd="sng" algn="ctr">
                      <a:solidFill>
                        <a:srgbClr val="49515A"/>
                      </a:solidFill>
                      <a:prstDash val="solid"/>
                      <a:round/>
                      <a:headEnd type="none" w="med" len="med"/>
                      <a:tailEnd type="none" w="med" len="med"/>
                    </a:lnR>
                    <a:lnT w="12700" cap="flat" cmpd="sng" algn="ctr">
                      <a:solidFill>
                        <a:srgbClr val="58626D"/>
                      </a:solidFill>
                      <a:prstDash val="solid"/>
                      <a:round/>
                      <a:headEnd type="none" w="med" len="med"/>
                      <a:tailEnd type="none" w="med" len="med"/>
                    </a:lnT>
                    <a:lnB w="12700" cap="flat" cmpd="sng" algn="ctr">
                      <a:solidFill>
                        <a:srgbClr val="49515A"/>
                      </a:solidFill>
                      <a:prstDash val="solid"/>
                      <a:round/>
                      <a:headEnd type="none" w="med" len="med"/>
                      <a:tailEnd type="none" w="med" len="med"/>
                    </a:lnB>
                    <a:solidFill>
                      <a:srgbClr val="17222E"/>
                    </a:solidFill>
                  </a:tcPr>
                </a:tc>
                <a:tc>
                  <a:txBody>
                    <a:bodyPr/>
                    <a:lstStyle/>
                    <a:p>
                      <a:pPr indent="0" marL="0">
                        <a:lnSpc>
                          <a:spcPts val="1820"/>
                        </a:lnSpc>
                        <a:buNone/>
                      </a:pPr>
                      <a:r>
                        <a:rPr lang="en-US" sz="1300" dirty="0">
                          <a:solidFill>
                            <a:srgbClr val="EEF1EC"/>
                          </a:solidFill>
                          <a:latin typeface="IBM Plex Sans" pitchFamily="34" charset="0"/>
                          <a:ea typeface="IBM Plex Sans" pitchFamily="34" charset="-122"/>
                          <a:cs typeface="IBM Plex Sans" pitchFamily="34" charset="-120"/>
                        </a:rPr>
                        <a:t>The hash chain no longer matches at that entry. The next heartbeat carries the latest number and hash.</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9515A"/>
                      </a:solidFill>
                      <a:prstDash val="solid"/>
                      <a:round/>
                      <a:headEnd type="none" w="med" len="med"/>
                      <a:tailEnd type="none" w="med" len="med"/>
                    </a:lnL>
                    <a:lnR w="12700" cap="flat" cmpd="sng" algn="ctr">
                      <a:solidFill>
                        <a:srgbClr val="49515A"/>
                      </a:solidFill>
                      <a:prstDash val="solid"/>
                      <a:round/>
                      <a:headEnd type="none" w="med" len="med"/>
                      <a:tailEnd type="none" w="med" len="med"/>
                    </a:lnR>
                    <a:lnT w="12700" cap="flat" cmpd="sng" algn="ctr">
                      <a:solidFill>
                        <a:srgbClr val="58626D"/>
                      </a:solidFill>
                      <a:prstDash val="solid"/>
                      <a:round/>
                      <a:headEnd type="none" w="med" len="med"/>
                      <a:tailEnd type="none" w="med" len="med"/>
                    </a:lnT>
                    <a:lnB w="12700" cap="flat" cmpd="sng" algn="ctr">
                      <a:solidFill>
                        <a:srgbClr val="49515A"/>
                      </a:solidFill>
                      <a:prstDash val="solid"/>
                      <a:round/>
                      <a:headEnd type="none" w="med" len="med"/>
                      <a:tailEnd type="none" w="med" len="med"/>
                    </a:lnB>
                    <a:solidFill>
                      <a:srgbClr val="17222E"/>
                    </a:solidFill>
                  </a:tcPr>
                </a:tc>
              </a:tr>
              <a:tr h="709930">
                <a:tc>
                  <a:txBody>
                    <a:bodyPr/>
                    <a:lstStyle/>
                    <a:p>
                      <a:pPr indent="0" marL="0">
                        <a:lnSpc>
                          <a:spcPts val="1820"/>
                        </a:lnSpc>
                        <a:buNone/>
                      </a:pPr>
                      <a:r>
                        <a:rPr lang="en-US" sz="1300" dirty="0">
                          <a:solidFill>
                            <a:srgbClr val="EEF1EC"/>
                          </a:solidFill>
                          <a:latin typeface="IBM Plex Sans" pitchFamily="34" charset="0"/>
                          <a:ea typeface="IBM Plex Sans" pitchFamily="34" charset="-122"/>
                          <a:cs typeface="IBM Plex Sans" pitchFamily="34" charset="-120"/>
                        </a:rPr>
                        <a:t>Cuts the link to the witness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2484F"/>
                      </a:solidFill>
                      <a:prstDash val="solid"/>
                      <a:round/>
                      <a:headEnd type="none" w="med" len="med"/>
                      <a:tailEnd type="none" w="med" len="med"/>
                    </a:lnL>
                    <a:lnR w="12700" cap="flat" cmpd="sng" algn="ctr">
                      <a:solidFill>
                        <a:srgbClr val="42484F"/>
                      </a:solidFill>
                      <a:prstDash val="solid"/>
                      <a:round/>
                      <a:headEnd type="none" w="med" len="med"/>
                      <a:tailEnd type="none" w="med" len="med"/>
                    </a:lnR>
                    <a:lnT w="12700" cap="flat" cmpd="sng" algn="ctr">
                      <a:solidFill>
                        <a:srgbClr val="49515A"/>
                      </a:solidFill>
                      <a:prstDash val="solid"/>
                      <a:round/>
                      <a:headEnd type="none" w="med" len="med"/>
                      <a:tailEnd type="none" w="med" len="med"/>
                    </a:lnT>
                    <a:lnB w="12700" cap="flat" cmpd="sng" algn="ctr">
                      <a:solidFill>
                        <a:srgbClr val="42484F"/>
                      </a:solidFill>
                      <a:prstDash val="solid"/>
                      <a:round/>
                      <a:headEnd type="none" w="med" len="med"/>
                      <a:tailEnd type="none" w="med" len="med"/>
                    </a:lnB>
                    <a:solidFill>
                      <a:srgbClr val="0E1620"/>
                    </a:solidFill>
                  </a:tcPr>
                </a:tc>
                <a:tc>
                  <a:txBody>
                    <a:bodyPr/>
                    <a:lstStyle/>
                    <a:p>
                      <a:pPr indent="0" marL="0">
                        <a:lnSpc>
                          <a:spcPts val="1820"/>
                        </a:lnSpc>
                        <a:buNone/>
                      </a:pPr>
                      <a:r>
                        <a:rPr lang="en-US" sz="1300" dirty="0">
                          <a:solidFill>
                            <a:srgbClr val="EEF1EC"/>
                          </a:solidFill>
                          <a:latin typeface="IBM Plex Sans" pitchFamily="34" charset="0"/>
                          <a:ea typeface="IBM Plex Sans" pitchFamily="34" charset="-122"/>
                          <a:cs typeface="IBM Plex Sans" pitchFamily="34" charset="-120"/>
                        </a:rPr>
                        <a:t>Heartbeats stop. The witness goes silent after 10 seconds and raises an alarm with the last number it received.</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2484F"/>
                      </a:solidFill>
                      <a:prstDash val="solid"/>
                      <a:round/>
                      <a:headEnd type="none" w="med" len="med"/>
                      <a:tailEnd type="none" w="med" len="med"/>
                    </a:lnL>
                    <a:lnR w="12700" cap="flat" cmpd="sng" algn="ctr">
                      <a:solidFill>
                        <a:srgbClr val="42484F"/>
                      </a:solidFill>
                      <a:prstDash val="solid"/>
                      <a:round/>
                      <a:headEnd type="none" w="med" len="med"/>
                      <a:tailEnd type="none" w="med" len="med"/>
                    </a:lnR>
                    <a:lnT w="12700" cap="flat" cmpd="sng" algn="ctr">
                      <a:solidFill>
                        <a:srgbClr val="49515A"/>
                      </a:solidFill>
                      <a:prstDash val="solid"/>
                      <a:round/>
                      <a:headEnd type="none" w="med" len="med"/>
                      <a:tailEnd type="none" w="med" len="med"/>
                    </a:lnT>
                    <a:lnB w="12700" cap="flat" cmpd="sng" algn="ctr">
                      <a:solidFill>
                        <a:srgbClr val="42484F"/>
                      </a:solidFill>
                      <a:prstDash val="solid"/>
                      <a:round/>
                      <a:headEnd type="none" w="med" len="med"/>
                      <a:tailEnd type="none" w="med" len="med"/>
                    </a:lnB>
                    <a:solidFill>
                      <a:srgbClr val="0E1620"/>
                    </a:solidFill>
                  </a:tcPr>
                </a:tc>
              </a:tr>
              <a:tr h="709930">
                <a:tc>
                  <a:txBody>
                    <a:bodyPr/>
                    <a:lstStyle/>
                    <a:p>
                      <a:pPr indent="0" marL="0">
                        <a:lnSpc>
                          <a:spcPts val="1820"/>
                        </a:lnSpc>
                        <a:buNone/>
                      </a:pPr>
                      <a:r>
                        <a:rPr lang="en-US" sz="1300" dirty="0">
                          <a:solidFill>
                            <a:srgbClr val="EEF1EC"/>
                          </a:solidFill>
                          <a:latin typeface="IBM Plex Sans" pitchFamily="34" charset="0"/>
                          <a:ea typeface="IBM Plex Sans" pitchFamily="34" charset="-122"/>
                          <a:cs typeface="IBM Plex Sans" pitchFamily="34" charset="-120"/>
                        </a:rPr>
                        <a:t>Re-signs old entries to hide the edit</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2484F"/>
                      </a:solidFill>
                      <a:prstDash val="solid"/>
                      <a:round/>
                      <a:headEnd type="none" w="med" len="med"/>
                      <a:tailEnd type="none" w="med" len="med"/>
                    </a:lnL>
                    <a:lnR w="12700" cap="flat" cmpd="sng" algn="ctr">
                      <a:solidFill>
                        <a:srgbClr val="49515A"/>
                      </a:solidFill>
                      <a:prstDash val="solid"/>
                      <a:round/>
                      <a:headEnd type="none" w="med" len="med"/>
                      <a:tailEnd type="none" w="med" len="med"/>
                    </a:lnR>
                    <a:lnT w="12700" cap="flat" cmpd="sng" algn="ctr">
                      <a:solidFill>
                        <a:srgbClr val="42484F"/>
                      </a:solidFill>
                      <a:prstDash val="solid"/>
                      <a:round/>
                      <a:headEnd type="none" w="med" len="med"/>
                      <a:tailEnd type="none" w="med" len="med"/>
                    </a:lnT>
                    <a:lnB w="12700" cap="flat" cmpd="sng" algn="ctr">
                      <a:solidFill>
                        <a:srgbClr val="49515A"/>
                      </a:solidFill>
                      <a:prstDash val="solid"/>
                      <a:round/>
                      <a:headEnd type="none" w="med" len="med"/>
                      <a:tailEnd type="none" w="med" len="med"/>
                    </a:lnB>
                    <a:solidFill>
                      <a:srgbClr val="17222E"/>
                    </a:solidFill>
                  </a:tcPr>
                </a:tc>
                <a:tc>
                  <a:txBody>
                    <a:bodyPr/>
                    <a:lstStyle/>
                    <a:p>
                      <a:pPr indent="0" marL="0">
                        <a:lnSpc>
                          <a:spcPts val="1820"/>
                        </a:lnSpc>
                        <a:buNone/>
                      </a:pPr>
                      <a:r>
                        <a:rPr lang="en-US" sz="1300" dirty="0">
                          <a:solidFill>
                            <a:srgbClr val="EEF1EC"/>
                          </a:solidFill>
                          <a:latin typeface="IBM Plex Sans" pitchFamily="34" charset="0"/>
                          <a:ea typeface="IBM Plex Sans" pitchFamily="34" charset="-122"/>
                          <a:cs typeface="IBM Plex Sans" pitchFamily="34" charset="-120"/>
                        </a:rPr>
                        <a:t>Old keys are erased, so old entries cannot be re-signed. Any copy the witness already holds still disagrees.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9515A"/>
                      </a:solidFill>
                      <a:prstDash val="solid"/>
                      <a:round/>
                      <a:headEnd type="none" w="med" len="med"/>
                      <a:tailEnd type="none" w="med" len="med"/>
                    </a:lnL>
                    <a:lnR w="12700" cap="flat" cmpd="sng" algn="ctr">
                      <a:solidFill>
                        <a:srgbClr val="49515A"/>
                      </a:solidFill>
                      <a:prstDash val="solid"/>
                      <a:round/>
                      <a:headEnd type="none" w="med" len="med"/>
                      <a:tailEnd type="none" w="med" len="med"/>
                    </a:lnR>
                    <a:lnT w="12700" cap="flat" cmpd="sng" algn="ctr">
                      <a:solidFill>
                        <a:srgbClr val="42484F"/>
                      </a:solidFill>
                      <a:prstDash val="solid"/>
                      <a:round/>
                      <a:headEnd type="none" w="med" len="med"/>
                      <a:tailEnd type="none" w="med" len="med"/>
                    </a:lnT>
                    <a:lnB w="12700" cap="flat" cmpd="sng" algn="ctr">
                      <a:solidFill>
                        <a:srgbClr val="49515A"/>
                      </a:solidFill>
                      <a:prstDash val="solid"/>
                      <a:round/>
                      <a:headEnd type="none" w="med" len="med"/>
                      <a:tailEnd type="none" w="med" len="med"/>
                    </a:lnB>
                    <a:solidFill>
                      <a:srgbClr val="17222E"/>
                    </a:solidFill>
                  </a:tcPr>
                </a:tc>
              </a:tr>
              <a:tr h="709930">
                <a:tc>
                  <a:txBody>
                    <a:bodyPr/>
                    <a:lstStyle/>
                    <a:p>
                      <a:pPr indent="0" marL="0">
                        <a:lnSpc>
                          <a:spcPts val="1820"/>
                        </a:lnSpc>
                        <a:buNone/>
                      </a:pPr>
                      <a:r>
                        <a:rPr lang="en-US" sz="1300" dirty="0">
                          <a:solidFill>
                            <a:srgbClr val="EEF1EC"/>
                          </a:solidFill>
                          <a:latin typeface="IBM Plex Sans" pitchFamily="34" charset="0"/>
                          <a:ea typeface="IBM Plex Sans" pitchFamily="34" charset="-122"/>
                          <a:cs typeface="IBM Plex Sans" pitchFamily="34" charset="-120"/>
                        </a:rPr>
                        <a:t>Truncates the local log</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2484F"/>
                      </a:solidFill>
                      <a:prstDash val="solid"/>
                      <a:round/>
                      <a:headEnd type="none" w="med" len="med"/>
                      <a:tailEnd type="none" w="med" len="med"/>
                    </a:lnL>
                    <a:lnR w="12700" cap="flat" cmpd="sng" algn="ctr">
                      <a:solidFill>
                        <a:srgbClr val="42484F"/>
                      </a:solidFill>
                      <a:prstDash val="solid"/>
                      <a:round/>
                      <a:headEnd type="none" w="med" len="med"/>
                      <a:tailEnd type="none" w="med" len="med"/>
                    </a:lnR>
                    <a:lnT w="12700" cap="flat" cmpd="sng" algn="ctr">
                      <a:solidFill>
                        <a:srgbClr val="49515A"/>
                      </a:solidFill>
                      <a:prstDash val="solid"/>
                      <a:round/>
                      <a:headEnd type="none" w="med" len="med"/>
                      <a:tailEnd type="none" w="med" len="med"/>
                    </a:lnT>
                    <a:lnB w="12700" cap="flat" cmpd="sng" algn="ctr">
                      <a:solidFill>
                        <a:srgbClr val="42484F"/>
                      </a:solidFill>
                      <a:prstDash val="solid"/>
                      <a:round/>
                      <a:headEnd type="none" w="med" len="med"/>
                      <a:tailEnd type="none" w="med" len="med"/>
                    </a:lnB>
                    <a:solidFill>
                      <a:srgbClr val="0E1620"/>
                    </a:solidFill>
                  </a:tcPr>
                </a:tc>
                <a:tc>
                  <a:txBody>
                    <a:bodyPr/>
                    <a:lstStyle/>
                    <a:p>
                      <a:pPr indent="0" marL="0">
                        <a:lnSpc>
                          <a:spcPts val="1820"/>
                        </a:lnSpc>
                        <a:buNone/>
                      </a:pPr>
                      <a:r>
                        <a:rPr lang="en-US" sz="1300" dirty="0">
                          <a:solidFill>
                            <a:srgbClr val="EEF1EC"/>
                          </a:solidFill>
                          <a:latin typeface="IBM Plex Sans" pitchFamily="34" charset="0"/>
                          <a:ea typeface="IBM Plex Sans" pitchFamily="34" charset="-122"/>
                          <a:cs typeface="IBM Plex Sans" pitchFamily="34" charset="-120"/>
                        </a:rPr>
                        <a:t>The witness keeps every entry it was sent. The missing numbers are reported.</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42484F"/>
                      </a:solidFill>
                      <a:prstDash val="solid"/>
                      <a:round/>
                      <a:headEnd type="none" w="med" len="med"/>
                      <a:tailEnd type="none" w="med" len="med"/>
                    </a:lnL>
                    <a:lnR w="12700" cap="flat" cmpd="sng" algn="ctr">
                      <a:solidFill>
                        <a:srgbClr val="42484F"/>
                      </a:solidFill>
                      <a:prstDash val="solid"/>
                      <a:round/>
                      <a:headEnd type="none" w="med" len="med"/>
                      <a:tailEnd type="none" w="med" len="med"/>
                    </a:lnR>
                    <a:lnT w="12700" cap="flat" cmpd="sng" algn="ctr">
                      <a:solidFill>
                        <a:srgbClr val="49515A"/>
                      </a:solidFill>
                      <a:prstDash val="solid"/>
                      <a:round/>
                      <a:headEnd type="none" w="med" len="med"/>
                      <a:tailEnd type="none" w="med" len="med"/>
                    </a:lnT>
                    <a:lnB w="12700" cap="flat" cmpd="sng" algn="ctr">
                      <a:solidFill>
                        <a:srgbClr val="42484F"/>
                      </a:solidFill>
                      <a:prstDash val="solid"/>
                      <a:round/>
                      <a:headEnd type="none" w="med" len="med"/>
                      <a:tailEnd type="none" w="med" len="med"/>
                    </a:lnB>
                    <a:solidFill>
                      <a:srgbClr val="0E1620"/>
                    </a:solidFill>
                  </a:tcPr>
                </a:tc>
              </a:tr>
            </a:tbl>
          </a:graphicData>
        </a:graphic>
      </p:graphicFrame>
      <p:sp>
        <p:nvSpPr>
          <p:cNvPr id="5" name="Text 2"/>
          <p:cNvSpPr/>
          <p:nvPr/>
        </p:nvSpPr>
        <p:spPr>
          <a:xfrm>
            <a:off x="812800" y="5381625"/>
            <a:ext cx="10883392"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2913D"/>
                </a:solidFill>
                <a:latin typeface="IBM Plex Sans" pitchFamily="34" charset="0"/>
                <a:ea typeface="IBM Plex Sans" pitchFamily="34" charset="-122"/>
                <a:cs typeface="IBM Plex Sans" pitchFamily="34" charset="-120"/>
              </a:rPr>
              <a:t>Limit: entries written during an outage stay unverified until the link is back.</a:t>
            </a:r>
            <a:endParaRPr lang="en-US" sz="13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A3"/>
                </a:solidFill>
                <a:latin typeface="IBM Plex Sans" pitchFamily="34" charset="0"/>
                <a:ea typeface="IBM Plex Sans" pitchFamily="34" charset="-122"/>
                <a:cs typeface="IBM Plex Sans" pitchFamily="34" charset="-120"/>
              </a:rPr>
              <a:t>Chain of Custody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2913D"/>
                </a:solidFill>
                <a:latin typeface="JetBrains Mono" pitchFamily="49" charset="0"/>
                <a:ea typeface="JetBrains Mono" pitchFamily="49" charset="-122"/>
                <a:cs typeface="JetBrains Mono" pitchFamily="49" charset="-120"/>
              </a:rPr>
              <a:t>LAYER 2 · HOW WE BUILD IT</a:t>
            </a:r>
            <a:endParaRPr lang="en-US" sz="1300" dirty="0"/>
          </a:p>
        </p:txBody>
      </p:sp>
      <p:sp>
        <p:nvSpPr>
          <p:cNvPr id="3" name="Text 1"/>
          <p:cNvSpPr/>
          <p:nvPr>
            <p:ph type="title"/>
          </p:nvPr>
        </p:nvSpPr>
        <p:spPr>
          <a:xfrm>
            <a:off x="812800" y="12979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6202B"/>
                </a:solidFill>
                <a:latin typeface="IBM Plex Sans" pitchFamily="34" charset="0"/>
                <a:ea typeface="IBM Plex Sans" pitchFamily="34" charset="-122"/>
                <a:cs typeface="IBM Plex Sans" pitchFamily="34" charset="-120"/>
              </a:rPr>
              <a:t>Layer 2 technique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53260"/>
          <a:ext cx="10556240" cy="3813810"/>
        </p:xfrm>
        <a:graphic>
          <a:graphicData uri="http://schemas.openxmlformats.org/drawingml/2006/table">
            <a:tbl>
              <a:tblPr/>
              <a:tblGrid>
                <a:gridCol w="2744622"/>
                <a:gridCol w="7811618"/>
              </a:tblGrid>
              <a:tr h="487045">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Component</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Stack and technique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487045">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Hash chain</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Each entry is canonical JSON, hashed with SHA-256, and includes the previous entry's hash</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Entry tags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HMAC-SHA256 per entry with a forward-secure key. The key advances every 100 entries and the old one is erased.</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Numbers and heartbeat</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Entries are numbered and shipped as written. A heartbeat every 3 seconds carries the head hash and a challenge response.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Witness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Append-only store (database triggers in the demo). Silence alarm after 10 seconds. Per-entry diff finds the first mismatch.</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Outages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Gaps are counted by sequence number and labelled unverified. The box resends from the last acknowledged entry.</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1"/>
                </a:solidFill>
                <a:latin typeface="IBM Plex Sans" pitchFamily="34" charset="0"/>
                <a:ea typeface="IBM Plex Sans" pitchFamily="34" charset="-122"/>
                <a:cs typeface="IBM Plex Sans" pitchFamily="34" charset="-120"/>
              </a:rPr>
              <a:t>Chain of Custody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621A"/>
                </a:solidFill>
                <a:latin typeface="JetBrains Mono" pitchFamily="49" charset="0"/>
                <a:ea typeface="JetBrains Mono" pitchFamily="49" charset="-122"/>
                <a:cs typeface="JetBrains Mono" pitchFamily="49" charset="-120"/>
              </a:rPr>
              <a:t>LAYER 3 · LAST RESORT</a:t>
            </a:r>
            <a:endParaRPr lang="en-US" sz="1300" dirty="0"/>
          </a:p>
        </p:txBody>
      </p:sp>
      <p:sp>
        <p:nvSpPr>
          <p:cNvPr id="3" name="Text 1"/>
          <p:cNvSpPr/>
          <p:nvPr>
            <p:ph type="title"/>
          </p:nvPr>
        </p:nvSpPr>
        <p:spPr>
          <a:xfrm>
            <a:off x="812800" y="12471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6202B"/>
                </a:solidFill>
                <a:latin typeface="IBM Plex Sans" pitchFamily="34" charset="0"/>
                <a:ea typeface="IBM Plex Sans" pitchFamily="34" charset="-122"/>
                <a:cs typeface="IBM Plex Sans" pitchFamily="34" charset="-120"/>
              </a:rPr>
              <a:t>Once tampering is confirmed, the box freezes.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1660"/>
          <a:ext cx="10556240" cy="3326765"/>
        </p:xfrm>
        <a:graphic>
          <a:graphicData uri="http://schemas.openxmlformats.org/drawingml/2006/table">
            <a:tbl>
              <a:tblPr/>
              <a:tblGrid>
                <a:gridCol w="4855870"/>
                <a:gridCol w="5700370"/>
              </a:tblGrid>
              <a:tr h="487045">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What happens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What it means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Layer 2 confirms tampering on the box</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The witness sets a freeze flag in its next heartbeat reply. The box stops taking new records.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The attacker tries to keep working</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Writes and sessions are frozen. The attacker and admin accounts are locked out.</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Investigators pull the evidence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Entries, alerts, outages and a SHA-256 manifest are exported from the witness, which has no SSH.</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Someone needs to unfreeze the box</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Unlock needs 2 of 3 Shamir key holders: the legal team, the witness and the admin.</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bl>
          </a:graphicData>
        </a:graphic>
      </p:graphicFrame>
      <p:sp>
        <p:nvSpPr>
          <p:cNvPr id="5" name="Text 2"/>
          <p:cNvSpPr/>
          <p:nvPr/>
        </p:nvSpPr>
        <p:spPr>
          <a:xfrm>
            <a:off x="812800" y="5381625"/>
            <a:ext cx="10883392"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C2621A"/>
                </a:solidFill>
                <a:latin typeface="IBM Plex Sans" pitchFamily="34" charset="0"/>
                <a:ea typeface="IBM Plex Sans" pitchFamily="34" charset="-122"/>
                <a:cs typeface="IBM Plex Sans" pitchFamily="34" charset="-120"/>
              </a:rPr>
              <a:t>Limit: a false positive still needs a manual unlock.</a:t>
            </a:r>
            <a:endParaRPr lang="en-US" sz="13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1"/>
                </a:solidFill>
                <a:latin typeface="IBM Plex Sans" pitchFamily="34" charset="0"/>
                <a:ea typeface="IBM Plex Sans" pitchFamily="34" charset="-122"/>
                <a:cs typeface="IBM Plex Sans" pitchFamily="34" charset="-120"/>
              </a:rPr>
              <a:t>Chain of Custody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621A"/>
                </a:solidFill>
                <a:latin typeface="JetBrains Mono" pitchFamily="49" charset="0"/>
                <a:ea typeface="JetBrains Mono" pitchFamily="49" charset="-122"/>
                <a:cs typeface="JetBrains Mono" pitchFamily="49" charset="-120"/>
              </a:rPr>
              <a:t>LAYER 3 · HOW WE BUILD IT</a:t>
            </a:r>
            <a:endParaRPr lang="en-US" sz="1300" dirty="0"/>
          </a:p>
        </p:txBody>
      </p:sp>
      <p:sp>
        <p:nvSpPr>
          <p:cNvPr id="3" name="Text 1"/>
          <p:cNvSpPr/>
          <p:nvPr>
            <p:ph type="title"/>
          </p:nvPr>
        </p:nvSpPr>
        <p:spPr>
          <a:xfrm>
            <a:off x="812800" y="12979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6202B"/>
                </a:solidFill>
                <a:latin typeface="IBM Plex Sans" pitchFamily="34" charset="0"/>
                <a:ea typeface="IBM Plex Sans" pitchFamily="34" charset="-122"/>
                <a:cs typeface="IBM Plex Sans" pitchFamily="34" charset="-120"/>
              </a:rPr>
              <a:t>Layer 3 technique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53260"/>
          <a:ext cx="10556240" cy="2658110"/>
        </p:xfrm>
        <a:graphic>
          <a:graphicData uri="http://schemas.openxmlformats.org/drawingml/2006/table">
            <a:tbl>
              <a:tblPr/>
              <a:tblGrid>
                <a:gridCol w="2744622"/>
                <a:gridCol w="7811618"/>
              </a:tblGrid>
              <a:tr h="487045">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Component</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820"/>
                        </a:lnSpc>
                        <a:buNone/>
                      </a:pPr>
                      <a:r>
                        <a:rPr lang="en-US" sz="1300" b="1" dirty="0">
                          <a:solidFill>
                            <a:srgbClr val="EEF1EC"/>
                          </a:solidFill>
                          <a:latin typeface="IBM Plex Sans" pitchFamily="34" charset="0"/>
                          <a:ea typeface="IBM Plex Sans" pitchFamily="34" charset="-122"/>
                          <a:cs typeface="IBM Plex Sans" pitchFamily="34" charset="-120"/>
                        </a:rPr>
                        <a:t>Stack and technique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3C4C0"/>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487045">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Freeze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Freeze flag in the witness heartbeat reply. The box stops taking new records and sessions.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709930">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Evidence</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Export of entries, alerts and outages with a SHA-256 manifest. Stored on the witness, which has no SSH.</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r h="487045">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Unlock key</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Shamir 2-of-3 secret sharing over a 127-bit prime. Holders: legal team, witness, admin.</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7045">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What the witness keeps</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C3C4C0"/>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Only a SHA-256 commitment to the secret. It can check a pair of shares without holding the key.</a:t>
                      </a:r>
                      <a:endParaRPr lang="en-US" sz="1300" dirty="0">
                        <a:latin typeface="IBM Plex Sans" charset="0"/>
                        <a:ea typeface="IBM Plex Sans" charset="0"/>
                        <a:cs typeface="IBM Plex Sans" charset="0"/>
                      </a:endParaRPr>
                    </a:p>
                  </a:txBody>
                  <a:tcPr marL="152400" marR="152400" marT="127000" marB="127000" anchor="t">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EBA"/>
                      </a:solidFill>
                      <a:prstDash val="solid"/>
                      <a:round/>
                      <a:headEnd type="none" w="med" len="med"/>
                      <a:tailEnd type="none" w="med" len="med"/>
                    </a:lnB>
                    <a:solidFill>
                      <a:srgbClr val="ECEEE9"/>
                    </a:solidFill>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1"/>
                </a:solidFill>
                <a:latin typeface="IBM Plex Sans" pitchFamily="34" charset="0"/>
                <a:ea typeface="IBM Plex Sans" pitchFamily="34" charset="-122"/>
                <a:cs typeface="IBM Plex Sans" pitchFamily="34" charset="-120"/>
              </a:rPr>
              <a:t>Chain of Custody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C2621A"/>
                </a:solidFill>
                <a:latin typeface="JetBrains Mono" pitchFamily="49" charset="0"/>
                <a:ea typeface="JetBrains Mono" pitchFamily="49" charset="-122"/>
                <a:cs typeface="JetBrains Mono" pitchFamily="49" charset="-120"/>
              </a:rPr>
              <a:t>ARCHITECTURE</a:t>
            </a:r>
            <a:endParaRPr lang="en-US" sz="1300" dirty="0"/>
          </a:p>
        </p:txBody>
      </p:sp>
      <p:sp>
        <p:nvSpPr>
          <p:cNvPr id="3" name="Text 1"/>
          <p:cNvSpPr/>
          <p:nvPr>
            <p:ph type="title"/>
          </p:nvPr>
        </p:nvSpPr>
        <p:spPr>
          <a:xfrm>
            <a:off x="812800" y="1297942"/>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6202B"/>
                </a:solidFill>
                <a:latin typeface="IBM Plex Sans" pitchFamily="34" charset="0"/>
                <a:ea typeface="IBM Plex Sans" pitchFamily="34" charset="-122"/>
                <a:cs typeface="IBM Plex Sans" pitchFamily="34" charset="-120"/>
              </a:rPr>
              <a:t>The box writes, the witness keeps, the views read.</a:t>
            </a:r>
            <a:endParaRPr lang="en-US" sz="2800" dirty="0"/>
          </a:p>
        </p:txBody>
      </p:sp>
      <p:sp>
        <p:nvSpPr>
          <p:cNvPr id="4" name="Shape 2"/>
          <p:cNvSpPr/>
          <p:nvPr/>
        </p:nvSpPr>
        <p:spPr>
          <a:xfrm>
            <a:off x="812800" y="1943100"/>
            <a:ext cx="3142774" cy="1602740"/>
          </a:xfrm>
          <a:prstGeom prst="roundRect">
            <a:avLst>
              <a:gd name="adj" fmla="val 6339"/>
            </a:avLst>
          </a:prstGeom>
          <a:solidFill>
            <a:srgbClr val="16202B"/>
          </a:solidFill>
          <a:ln/>
        </p:spPr>
      </p:sp>
      <p:sp>
        <p:nvSpPr>
          <p:cNvPr id="5" name="Text 3"/>
          <p:cNvSpPr/>
          <p:nvPr/>
        </p:nvSpPr>
        <p:spPr>
          <a:xfrm>
            <a:off x="1016000" y="2146300"/>
            <a:ext cx="28184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1EC"/>
                </a:solidFill>
                <a:latin typeface="IBM Plex Sans" pitchFamily="34" charset="0"/>
                <a:ea typeface="IBM Plex Sans" pitchFamily="34" charset="-122"/>
                <a:cs typeface="IBM Plex Sans" pitchFamily="34" charset="-120"/>
              </a:rPr>
              <a:t>Box</a:t>
            </a:r>
            <a:endParaRPr lang="en-US" sz="1600" dirty="0"/>
          </a:p>
        </p:txBody>
      </p:sp>
      <p:sp>
        <p:nvSpPr>
          <p:cNvPr id="6" name="Text 4"/>
          <p:cNvSpPr/>
          <p:nvPr/>
        </p:nvSpPr>
        <p:spPr>
          <a:xfrm>
            <a:off x="1016000" y="2479042"/>
            <a:ext cx="2818465"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C"/>
                </a:solidFill>
                <a:latin typeface="IBM Plex Sans" pitchFamily="34" charset="0"/>
                <a:ea typeface="IBM Plex Sans" pitchFamily="34" charset="-122"/>
                <a:cs typeface="IBM Plex Sans" pitchFamily="34" charset="-120"/>
              </a:rPr>
              <a:t>Customer host. Agent and command gate (L1). Sensors and local log (L1, L2). Shipper sends chained entries and heartbeats (L2). Freeze handler (L3).</a:t>
            </a:r>
            <a:endParaRPr lang="en-US" sz="1200" dirty="0"/>
          </a:p>
        </p:txBody>
      </p:sp>
      <p:pic>
        <p:nvPicPr>
          <p:cNvPr id="7" name="Image 0" descr="arrow-right">    </p:cNvPr>
          <p:cNvPicPr>
            <a:picLocks noChangeAspect="1"/>
          </p:cNvPicPr>
          <p:nvPr/>
        </p:nvPicPr>
        <p:blipFill>
          <a:blip r:embed="rId1"/>
          <a:srcRect l="0" r="0" t="0" b="0"/>
          <a:stretch/>
        </p:blipFill>
        <p:spPr>
          <a:xfrm>
            <a:off x="4057174" y="2655571"/>
            <a:ext cx="355600" cy="177800"/>
          </a:xfrm>
          <a:prstGeom prst="rect">
            <a:avLst/>
          </a:prstGeom>
        </p:spPr>
      </p:pic>
      <p:sp>
        <p:nvSpPr>
          <p:cNvPr id="8" name="Shape 5"/>
          <p:cNvSpPr/>
          <p:nvPr/>
        </p:nvSpPr>
        <p:spPr>
          <a:xfrm>
            <a:off x="4517549" y="1946275"/>
            <a:ext cx="3146663" cy="1596390"/>
          </a:xfrm>
          <a:prstGeom prst="roundRect">
            <a:avLst>
              <a:gd name="adj" fmla="val 6165"/>
            </a:avLst>
          </a:prstGeom>
          <a:solidFill>
            <a:srgbClr val="FFFFFF"/>
          </a:solidFill>
          <a:ln w="6350">
            <a:solidFill>
              <a:srgbClr val="DDE1DC"/>
            </a:solidFill>
            <a:prstDash val="solid"/>
          </a:ln>
        </p:spPr>
      </p:sp>
      <p:sp>
        <p:nvSpPr>
          <p:cNvPr id="9" name="Text 6"/>
          <p:cNvSpPr/>
          <p:nvPr/>
        </p:nvSpPr>
        <p:spPr>
          <a:xfrm>
            <a:off x="4722654" y="2151379"/>
            <a:ext cx="28185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Witness</a:t>
            </a:r>
            <a:endParaRPr lang="en-US" sz="1600" dirty="0"/>
          </a:p>
        </p:txBody>
      </p:sp>
      <p:sp>
        <p:nvSpPr>
          <p:cNvPr id="10" name="Text 7"/>
          <p:cNvSpPr/>
          <p:nvPr/>
        </p:nvSpPr>
        <p:spPr>
          <a:xfrm>
            <a:off x="4722654" y="2484121"/>
            <a:ext cx="281854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663"/>
                </a:solidFill>
                <a:latin typeface="IBM Plex Sans" pitchFamily="34" charset="0"/>
                <a:ea typeface="IBM Plex Sans" pitchFamily="34" charset="-122"/>
                <a:cs typeface="IBM Plex Sans" pitchFamily="34" charset="-120"/>
              </a:rPr>
              <a:t>Separate host with no SSH. Verifies the chain, raises silence and sensor alarms (L2). Keeps the evidence store and the unlock commitment (L3).</a:t>
            </a:r>
            <a:endParaRPr lang="en-US" sz="1200" dirty="0"/>
          </a:p>
        </p:txBody>
      </p:sp>
      <p:pic>
        <p:nvPicPr>
          <p:cNvPr id="11" name="Image 1" descr="arrow-right">    </p:cNvPr>
          <p:cNvPicPr>
            <a:picLocks noChangeAspect="1"/>
          </p:cNvPicPr>
          <p:nvPr/>
        </p:nvPicPr>
        <p:blipFill>
          <a:blip r:embed="rId2"/>
          <a:srcRect l="0" r="0" t="0" b="0"/>
          <a:stretch/>
        </p:blipFill>
        <p:spPr>
          <a:xfrm>
            <a:off x="7768987" y="2655571"/>
            <a:ext cx="355600" cy="177800"/>
          </a:xfrm>
          <a:prstGeom prst="rect">
            <a:avLst/>
          </a:prstGeom>
        </p:spPr>
      </p:pic>
      <p:sp>
        <p:nvSpPr>
          <p:cNvPr id="12" name="Shape 8"/>
          <p:cNvSpPr/>
          <p:nvPr/>
        </p:nvSpPr>
        <p:spPr>
          <a:xfrm>
            <a:off x="8229362" y="1946275"/>
            <a:ext cx="3146663" cy="1596390"/>
          </a:xfrm>
          <a:prstGeom prst="roundRect">
            <a:avLst>
              <a:gd name="adj" fmla="val 6165"/>
            </a:avLst>
          </a:prstGeom>
          <a:solidFill>
            <a:srgbClr val="FFFFFF"/>
          </a:solidFill>
          <a:ln w="6350">
            <a:solidFill>
              <a:srgbClr val="DDE1DC"/>
            </a:solidFill>
            <a:prstDash val="solid"/>
          </a:ln>
        </p:spPr>
      </p:sp>
      <p:sp>
        <p:nvSpPr>
          <p:cNvPr id="13" name="Text 9"/>
          <p:cNvSpPr/>
          <p:nvPr/>
        </p:nvSpPr>
        <p:spPr>
          <a:xfrm>
            <a:off x="8434467" y="2151379"/>
            <a:ext cx="28185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Views</a:t>
            </a:r>
            <a:endParaRPr lang="en-US" sz="1600" dirty="0"/>
          </a:p>
        </p:txBody>
      </p:sp>
      <p:sp>
        <p:nvSpPr>
          <p:cNvPr id="14" name="Text 10"/>
          <p:cNvSpPr/>
          <p:nvPr/>
        </p:nvSpPr>
        <p:spPr>
          <a:xfrm>
            <a:off x="8434467" y="2484121"/>
            <a:ext cx="281854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663"/>
                </a:solidFill>
                <a:latin typeface="IBM Plex Sans" pitchFamily="34" charset="0"/>
                <a:ea typeface="IBM Plex Sans" pitchFamily="34" charset="-122"/>
                <a:cs typeface="IBM Plex Sans" pitchFamily="34" charset="-120"/>
              </a:rPr>
              <a:t>SOC view: live alerts and the freeze button. Auditor view: verification, first mismatch, evidence export. Sysadmin view: unlock with two shares.</a:t>
            </a:r>
            <a:endParaRPr lang="en-US" sz="1200" dirty="0"/>
          </a:p>
        </p:txBody>
      </p:sp>
      <p:sp>
        <p:nvSpPr>
          <p:cNvPr id="15" name="Text 11"/>
          <p:cNvSpPr/>
          <p:nvPr/>
        </p:nvSpPr>
        <p:spPr>
          <a:xfrm>
            <a:off x="812800" y="3799842"/>
            <a:ext cx="1088339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02B"/>
                </a:solidFill>
                <a:latin typeface="IBM Plex Sans" pitchFamily="34" charset="0"/>
                <a:ea typeface="IBM Plex Sans" pitchFamily="34" charset="-122"/>
                <a:cs typeface="IBM Plex Sans" pitchFamily="34" charset="-120"/>
              </a:rPr>
              <a:t>Box to witness: entries and heartbeats. Witness to box: challenge, freeze and copy requests.</a:t>
            </a:r>
            <a:endParaRPr lang="en-US" sz="1300" dirty="0"/>
          </a:p>
        </p:txBody>
      </p:sp>
      <p:sp>
        <p:nvSpPr>
          <p:cNvPr id="16" name="Text 1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1"/>
                </a:solidFill>
                <a:latin typeface="IBM Plex Sans" pitchFamily="34" charset="0"/>
                <a:ea typeface="IBM Plex Sans" pitchFamily="34" charset="-122"/>
                <a:cs typeface="IBM Plex Sans" pitchFamily="34" charset="-120"/>
              </a:rPr>
              <a:t>Chain of Custody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2913D"/>
                </a:solidFill>
                <a:latin typeface="JetBrains Mono" pitchFamily="49" charset="0"/>
                <a:ea typeface="JetBrains Mono" pitchFamily="49" charset="-122"/>
                <a:cs typeface="JetBrains Mono" pitchFamily="49" charset="-120"/>
              </a:rPr>
              <a:t>NEXT</a:t>
            </a:r>
            <a:endParaRPr lang="en-US" sz="1300" dirty="0"/>
          </a:p>
        </p:txBody>
      </p:sp>
      <p:sp>
        <p:nvSpPr>
          <p:cNvPr id="3" name="Text 1"/>
          <p:cNvSpPr/>
          <p:nvPr>
            <p:ph type="title"/>
          </p:nvPr>
        </p:nvSpPr>
        <p:spPr>
          <a:xfrm>
            <a:off x="812800" y="1348742"/>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EF1EC"/>
                </a:solidFill>
                <a:latin typeface="IBM Plex Sans" pitchFamily="34" charset="0"/>
                <a:ea typeface="IBM Plex Sans" pitchFamily="34" charset="-122"/>
                <a:cs typeface="IBM Plex Sans" pitchFamily="34" charset="-120"/>
              </a:rPr>
              <a:t>Two problems we want to work on</a:t>
            </a:r>
            <a:endParaRPr lang="en-US" sz="2800" dirty="0"/>
          </a:p>
        </p:txBody>
      </p:sp>
      <p:sp>
        <p:nvSpPr>
          <p:cNvPr id="4" name="Shape 2"/>
          <p:cNvSpPr/>
          <p:nvPr/>
        </p:nvSpPr>
        <p:spPr>
          <a:xfrm>
            <a:off x="815975" y="2047875"/>
            <a:ext cx="5187950" cy="2129790"/>
          </a:xfrm>
          <a:prstGeom prst="roundRect">
            <a:avLst>
              <a:gd name="adj" fmla="val 4621"/>
            </a:avLst>
          </a:prstGeom>
          <a:solidFill>
            <a:srgbClr val="17222E"/>
          </a:solidFill>
          <a:ln w="6350">
            <a:solidFill>
              <a:srgbClr val="2A3846"/>
            </a:solidFill>
            <a:prstDash val="solid"/>
          </a:ln>
        </p:spPr>
      </p:sp>
      <p:sp>
        <p:nvSpPr>
          <p:cNvPr id="5" name="Text 3"/>
          <p:cNvSpPr/>
          <p:nvPr/>
        </p:nvSpPr>
        <p:spPr>
          <a:xfrm>
            <a:off x="1071880" y="2303779"/>
            <a:ext cx="481642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EF1EC"/>
                </a:solidFill>
                <a:latin typeface="IBM Plex Sans" pitchFamily="34" charset="0"/>
                <a:ea typeface="IBM Plex Sans" pitchFamily="34" charset="-122"/>
                <a:cs typeface="IBM Plex Sans" pitchFamily="34" charset="-120"/>
              </a:rPr>
              <a:t>Network cut from the hacker side</a:t>
            </a:r>
            <a:endParaRPr lang="en-US" sz="1700" dirty="0"/>
          </a:p>
        </p:txBody>
      </p:sp>
      <p:sp>
        <p:nvSpPr>
          <p:cNvPr id="6" name="Text 4"/>
          <p:cNvSpPr/>
          <p:nvPr/>
        </p:nvSpPr>
        <p:spPr>
          <a:xfrm>
            <a:off x="1071880" y="2664464"/>
            <a:ext cx="481642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4CC"/>
                </a:solidFill>
                <a:latin typeface="IBM Plex Sans" pitchFamily="34" charset="0"/>
                <a:ea typeface="IBM Plex Sans" pitchFamily="34" charset="-122"/>
                <a:cs typeface="IBM Plex Sans" pitchFamily="34" charset="-120"/>
              </a:rPr>
              <a:t>The attacker cuts the link to the witness. The witness goes silent and alarms, but it only knows the link is down, not why.</a:t>
            </a:r>
            <a:endParaRPr lang="en-US" sz="1300" dirty="0"/>
          </a:p>
        </p:txBody>
      </p:sp>
      <p:sp>
        <p:nvSpPr>
          <p:cNvPr id="7" name="Text 5"/>
          <p:cNvSpPr/>
          <p:nvPr/>
        </p:nvSpPr>
        <p:spPr>
          <a:xfrm>
            <a:off x="1071880" y="3228342"/>
            <a:ext cx="4816424"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913D"/>
                </a:solidFill>
                <a:latin typeface="IBM Plex Sans" pitchFamily="34" charset="0"/>
                <a:ea typeface="IBM Plex Sans" pitchFamily="34" charset="-122"/>
                <a:cs typeface="IBM Plex Sans" pitchFamily="34" charset="-120"/>
              </a:rPr>
              <a:t>Open: tell a cut from a dead box, and keep the evidence safe while the link is down.</a:t>
            </a:r>
            <a:endParaRPr lang="en-US" sz="1300" dirty="0"/>
          </a:p>
        </p:txBody>
      </p:sp>
      <p:sp>
        <p:nvSpPr>
          <p:cNvPr id="8" name="Shape 6"/>
          <p:cNvSpPr/>
          <p:nvPr/>
        </p:nvSpPr>
        <p:spPr>
          <a:xfrm>
            <a:off x="6188075" y="2047875"/>
            <a:ext cx="5187950" cy="2129790"/>
          </a:xfrm>
          <a:prstGeom prst="roundRect">
            <a:avLst>
              <a:gd name="adj" fmla="val 4621"/>
            </a:avLst>
          </a:prstGeom>
          <a:solidFill>
            <a:srgbClr val="17222E"/>
          </a:solidFill>
          <a:ln w="6350">
            <a:solidFill>
              <a:srgbClr val="2A3846"/>
            </a:solidFill>
            <a:prstDash val="solid"/>
          </a:ln>
        </p:spPr>
      </p:sp>
      <p:sp>
        <p:nvSpPr>
          <p:cNvPr id="9" name="Text 7"/>
          <p:cNvSpPr/>
          <p:nvPr/>
        </p:nvSpPr>
        <p:spPr>
          <a:xfrm>
            <a:off x="6443980" y="2303779"/>
            <a:ext cx="481642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EF1EC"/>
                </a:solidFill>
                <a:latin typeface="IBM Plex Sans" pitchFamily="34" charset="0"/>
                <a:ea typeface="IBM Plex Sans" pitchFamily="34" charset="-122"/>
                <a:cs typeface="IBM Plex Sans" pitchFamily="34" charset="-120"/>
              </a:rPr>
              <a:t>Log injection (on hold)</a:t>
            </a:r>
            <a:endParaRPr lang="en-US" sz="1700" dirty="0"/>
          </a:p>
        </p:txBody>
      </p:sp>
      <p:sp>
        <p:nvSpPr>
          <p:cNvPr id="10" name="Text 8"/>
          <p:cNvSpPr/>
          <p:nvPr/>
        </p:nvSpPr>
        <p:spPr>
          <a:xfrm>
            <a:off x="6443980" y="2664464"/>
            <a:ext cx="481642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4CC"/>
                </a:solidFill>
                <a:latin typeface="IBM Plex Sans" pitchFamily="34" charset="0"/>
                <a:ea typeface="IBM Plex Sans" pitchFamily="34" charset="-122"/>
                <a:cs typeface="IBM Plex Sans" pitchFamily="34" charset="-120"/>
              </a:rPr>
              <a:t>The attacker writes crafted lines: embedded newlines, delimiter tricks, escape codes, or text aimed at a log summariser.</a:t>
            </a:r>
            <a:endParaRPr lang="en-US" sz="1300" dirty="0"/>
          </a:p>
        </p:txBody>
      </p:sp>
      <p:sp>
        <p:nvSpPr>
          <p:cNvPr id="11" name="Text 9"/>
          <p:cNvSpPr/>
          <p:nvPr/>
        </p:nvSpPr>
        <p:spPr>
          <a:xfrm>
            <a:off x="6443980" y="3459479"/>
            <a:ext cx="4816424"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913D"/>
                </a:solidFill>
                <a:latin typeface="IBM Plex Sans" pitchFamily="34" charset="0"/>
                <a:ea typeface="IBM Plex Sans" pitchFamily="34" charset="-122"/>
                <a:cs typeface="IBM Plex Sans" pitchFamily="34" charset="-120"/>
              </a:rPr>
              <a:t>Open: spot broken structure and label where each line came from. We return to this later.</a:t>
            </a:r>
            <a:endParaRPr lang="en-US" sz="13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7A3"/>
                </a:solidFill>
                <a:latin typeface="IBM Plex Sans" pitchFamily="34" charset="0"/>
                <a:ea typeface="IBM Plex Sans" pitchFamily="34" charset="-122"/>
                <a:cs typeface="IBM Plex Sans" pitchFamily="34" charset="-120"/>
              </a:rPr>
              <a:t>Thank you · Questions?</a:t>
            </a:r>
            <a:endParaRPr lang="en-US" sz="1200" dirty="0"/>
          </a:p>
        </p:txBody>
      </p:sp>
    </p:spTree>
  </p:cSld>
  <p:clrMapOvr>
    <a:masterClrMapping/>
  </p:clrMapOvr>
</p:sld>
</file>

<file path=ppt/theme/theme1.xml><?xml version="1.0" encoding="utf-8"?>
<a:theme xmlns:a="http://schemas.openxmlformats.org/drawingml/2006/main" name="Chain of Custody Pitch">
  <a:themeElements>
    <a:clrScheme name="Chain of Custody Pitch">
      <a:dk1>
        <a:srgbClr val="16202B"/>
      </a:dk1>
      <a:lt1>
        <a:srgbClr val="F4F5F1"/>
      </a:lt1>
      <a:dk2>
        <a:srgbClr val="4E555D"/>
      </a:dk2>
      <a:lt2>
        <a:srgbClr val="DEE0DD"/>
      </a:lt2>
      <a:accent1>
        <a:srgbClr val="F2913D"/>
      </a:accent1>
      <a:accent2>
        <a:srgbClr val="C2621A"/>
      </a:accent2>
      <a:accent3>
        <a:srgbClr val="2F6FD0"/>
      </a:accent3>
      <a:accent4>
        <a:srgbClr val="7A8591"/>
      </a:accent4>
      <a:accent5>
        <a:srgbClr val="4A5663"/>
      </a:accent5>
      <a:accent6>
        <a:srgbClr val="B9C4CC"/>
      </a:accent6>
      <a:hlink>
        <a:srgbClr val="0563C1"/>
      </a:hlink>
      <a:folHlink>
        <a:srgbClr val="954F72"/>
      </a:folHlink>
    </a:clrScheme>
    <a:fontScheme name="Chain of Custody Pitch">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Chain of Custody Pitch</dc:title>
  <dc:subject/>
  <dc:creator/>
  <cp:lastModifiedBy/>
  <cp:revision>1</cp:revision>
  <dcterms:created xsi:type="dcterms:W3CDTF">2026-10-14T08:10:15Z</dcterms:created>
  <dcterms:modified xsi:type="dcterms:W3CDTF">2026-10-14T08:10:15Z</dcterms:modified>
</cp:coreProperties>
</file>